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0E1DD"/>
                </a:solidFill>
                <a:latin typeface="Calibri"/>
              </a:defRPr>
            </a:pPr>
            <a:r>
              <a:t>AIM-V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Automation for Industrial M&amp;V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3749039"/>
            <a:ext cx="57607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8DA9"/>
                </a:solidFill>
                <a:latin typeface="Calibri"/>
              </a:defRPr>
            </a:pPr>
            <a:r>
              <a:t>A Multi-Agent Platform for DOE ITV M&amp;V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1DD"/>
                </a:solidFill>
                <a:latin typeface="Calibri"/>
              </a:defRPr>
            </a:pPr>
            <a:r>
              <a:t>Strategy  •  Analytics  • 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1DD"/>
                </a:solidFill>
                <a:latin typeface="Calibri"/>
              </a:defRPr>
            </a:pPr>
            <a:r>
              <a:t>The 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41148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Manual M&amp;V processes are slow, error-prone, and expensive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ASHRAE G14 / IPMVP compliance requires 15+ statistical checks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Typical M&amp;V plan takes weeks of analyst time per project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No consistent QA/QC framework across an ESCO portfolio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Reporting is fragmented — spreadsheets, PDFs, emails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188720"/>
            <a:ext cx="292608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QA/QC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743200"/>
            <a:ext cx="292608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3–5 wks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Per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297680"/>
            <a:ext cx="292608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∼$50K+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Analyst Cost / 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1DD"/>
                </a:solidFill>
                <a:latin typeface="Calibri"/>
              </a:defRPr>
            </a:pPr>
            <a:r>
              <a:t>AIM-V at a Glance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45720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Multi-agent architecture — three specialized engines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Conversational /chat API routes prompts to the right agent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ITV-MV Cookbook &amp; ASHRAE Guideline 14 compliant analytics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Strategy engine infers IPMVP Option A/B/C/D automatically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Documentation engine generates M&amp;V plan markdown on demand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Streamlit UI for interactive workflow exploration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FastAPI backend with Swagger docs at 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0E1DD"/>
                </a:solidFill>
                <a:latin typeface="Calibri"/>
              </a:defRPr>
            </a:pPr>
            <a:r>
              <a:rPr dirty="0"/>
              <a:t>Specialized Agent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188720"/>
            <a:ext cx="3566160" cy="5029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57200" y="1600200"/>
            <a:ext cx="3200400" cy="0"/>
          </a:xfrm>
          <a:prstGeom prst="line">
            <a:avLst/>
          </a:prstGeom>
          <a:ln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1188720"/>
            <a:ext cx="3566160" cy="5029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D6A0"/>
                </a:solidFill>
                <a:latin typeface="Calibri"/>
              </a:defRPr>
            </a:pPr>
            <a:r>
              <a:t>Analytics Engine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1600200"/>
            <a:ext cx="3200400" cy="0"/>
          </a:xfrm>
          <a:prstGeom prst="line">
            <a:avLst/>
          </a:prstGeom>
          <a:ln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</a:pPr>
            <a:r>
              <a:t>OLS baseline regression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</a:pPr>
            <a:r>
              <a:t>15+ ITV-MV Cookbook QA/QC checks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</a:pPr>
            <a:r>
              <a:t>R², CV(RMSE), NDBE, F-stat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</a:pPr>
            <a:r>
              <a:t>Autocorrelation, Shapiro-Wilk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</a:pPr>
            <a:r>
              <a:t>t-stat, p-values, outlier detection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</a:pPr>
            <a:r>
              <a:t>Post-period savings &amp; FSU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8321040" y="1600200"/>
            <a:ext cx="3200400" cy="0"/>
          </a:xfrm>
          <a:prstGeom prst="line">
            <a:avLst/>
          </a:prstGeom>
          <a:ln>
            <a:solidFill>
              <a:srgbClr val="EF4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D6A0"/>
                </a:solidFill>
                <a:latin typeface="Calibri"/>
              </a:defRPr>
            </a:pPr>
            <a:r>
              <a:t>Analytics Agent — Deep Dive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59436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Core engine: statsmodels OLS regression on user-supplied baseline data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Accepts any columns — auto-detects dependent variable &amp; predictors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Validates against ITV-MV Cookbook / ASHRAE Guideline 14 thresholds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All thresholds are configurable via context overrides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Returns structured JSON — ready for downstream agents or UI rendering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</a:pPr>
            <a:r>
              <a:t>Optional post-period savings &amp; Fractional Savings Uncertainty (FSU)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statsmodels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scipy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D166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76F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7B6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D6A0"/>
                </a:solidFill>
                <a:latin typeface="Calibri"/>
              </a:defRPr>
            </a:pPr>
            <a:r>
              <a:t>Analytics — Model-Level QA/QC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64008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1DD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1DD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1DD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0972800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R-squared (R²)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≥ 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Goodness of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CV(RMSE)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4231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Model prediction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NDBE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≤ 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Net determination bias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F-statistic p-value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033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&lt; 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033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Overall model significance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10972800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3433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Autocorrelation |ρ|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&lt; 0.70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433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Residual independence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166"/>
                </a:solidFill>
                <a:latin typeface="Calibri"/>
              </a:defRPr>
            </a:pPr>
            <a:r>
              <a:t>All checks run automatically.  model_pass = True only when ALL pass.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DA9"/>
                </a:solidFill>
                <a:latin typeface="Calibri"/>
              </a:defRPr>
            </a:pPr>
            <a:r>
              <a:t>ITV-MV Cookbook Reference: Section A2.5.1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D6A0"/>
                </a:solidFill>
                <a:latin typeface="Calibri"/>
              </a:defRPr>
            </a:pPr>
            <a:r>
              <a:t>Analytics — Coefficient &amp; Residual QA/QC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77724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166"/>
                </a:solidFill>
                <a:latin typeface="Calibri"/>
              </a:defRPr>
            </a:pPr>
            <a:r>
              <a:t>Coefficient-Level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t-statistic ≥ 2.0 for significance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p-value &lt; 0.05 for each predictor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Per-coefficient detail output: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  value, t-stat, p-value, significant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  <a:latin typeface="Calibri"/>
              </a:defRPr>
            </a:pPr>
            <a:r>
              <a:t>Residual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Shapiro-Wilk normality test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Outlier detection (&gt; 3σ)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Reports outlier indices + count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</a:pPr>
            <a:r>
              <a:t>Residual mean &amp; std deviation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572000"/>
            <a:ext cx="8229600" cy="164592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Fractional Savings Uncertainty (FSU)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78DA9"/>
                </a:solidFill>
                <a:latin typeface="Calibri"/>
              </a:defRPr>
            </a:pPr>
            <a:r>
              <a:t>ASHRAE Guideline 14 Annex B  |  Accounts for autocorrelation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D6A0"/>
                </a:solidFill>
                <a:latin typeface="Consolas"/>
              </a:defRPr>
            </a:pPr>
            <a:r>
              <a:t>n′ = n(1–ρ)/(1+ρ)    |    FSU &lt; 50% at 68% confidence =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6D6A0"/>
                </a:solidFill>
                <a:latin typeface="Calibri"/>
              </a:defRPr>
            </a:pPr>
            <a:r>
              <a:t>Analytics Agent — Data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633575" y="1371600"/>
            <a:ext cx="329184" cy="32918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948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  <a:latin typeface="Calibri"/>
              </a:defRPr>
            </a:pPr>
            <a:r>
              <a:t>Input</a:t>
            </a:r>
            <a:br/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baseline_data</a:t>
            </a:r>
            <a:br/>
            <a:r>
              <a:t>dependent_var</a:t>
            </a:r>
            <a:br/>
            <a:r>
              <a:t>predictors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3085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782415" y="1371600"/>
            <a:ext cx="329184" cy="329184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260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832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D6A0"/>
                </a:solidFill>
                <a:latin typeface="Calibri"/>
              </a:defRPr>
            </a:pPr>
            <a:r>
              <a:t>OLS</a:t>
            </a:r>
            <a:br/>
            <a: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statsmodels</a:t>
            </a:r>
            <a:br/>
            <a:r>
              <a:t>add_constant</a:t>
            </a:r>
            <a:br/>
            <a:r>
              <a:t>fit()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969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31255" y="1371600"/>
            <a:ext cx="329184" cy="32918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144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2716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66"/>
                </a:solidFill>
                <a:latin typeface="Calibri"/>
              </a:defRPr>
            </a:pPr>
            <a:r>
              <a:t>Model</a:t>
            </a:r>
            <a:br/>
            <a:r>
              <a:t>QA/QC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288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R², CV(RMSE)</a:t>
            </a:r>
            <a:br/>
            <a:r>
              <a:t>NDBE, F-stat</a:t>
            </a:r>
            <a:br/>
            <a:r>
              <a:t>autocorr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853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80095" y="1371600"/>
            <a:ext cx="329184" cy="329184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028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600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76F"/>
                </a:solidFill>
                <a:latin typeface="Calibri"/>
              </a:defRPr>
            </a:pPr>
            <a:r>
              <a:t>Coeff &amp;</a:t>
            </a:r>
            <a:br/>
            <a:r>
              <a:t>Residuals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72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t-stat, p-val</a:t>
            </a:r>
            <a:br/>
            <a:r>
              <a:t>Shapiro-Wilk</a:t>
            </a:r>
            <a:br/>
            <a:r>
              <a:t>outliers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7737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228935" y="1371600"/>
            <a:ext cx="329184" cy="329184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912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2484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7B6"/>
                </a:solidFill>
                <a:latin typeface="Calibri"/>
              </a:defRPr>
            </a:pPr>
            <a:r>
              <a:t>Post-Period</a:t>
            </a:r>
            <a:br/>
            <a:r>
              <a:t>&amp; FSU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056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savings calc</a:t>
            </a:r>
            <a:br/>
            <a:r>
              <a:t>uncertainty</a:t>
            </a:r>
            <a:br/>
            <a:r>
              <a:t>effective_n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Output: Structured JSON dict with model stats, QA/QC results, savings, uncertainty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Ready to feed into Documentation Agent or render in Streamlit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D6A0"/>
                </a:solidFill>
                <a:latin typeface="Calibri"/>
              </a:defRPr>
            </a:pPr>
            <a:r>
              <a:t>Analytics Agent — Output Schema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64008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65760" y="1097280"/>
            <a:ext cx="7315200" cy="5303520"/>
          </a:xfrm>
          <a:prstGeom prst="roundRect">
            <a:avLst/>
          </a:prstGeom>
          <a:solidFill>
            <a:srgbClr val="0F1923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D6A0"/>
                </a:solidFill>
                <a:latin typeface="Consolas"/>
              </a:defRPr>
            </a:pPr>
            <a:r>
              <a:t>{</a:t>
            </a:r>
            <a:br/>
            <a:r>
              <a:t>  "model_type": "OLS",</a:t>
            </a:r>
            <a:br/>
            <a:r>
              <a:t>  "r2": 0.986,   "adj_r2": 0.981,</a:t>
            </a:r>
            <a:br/>
            <a:r>
              <a:t>  "cvrmse_percent": 4.3,</a:t>
            </a:r>
            <a:br/>
            <a:r>
              <a:t>  "ndbe_percent": 0.002,</a:t>
            </a:r>
            <a:br/>
            <a:r>
              <a:t>  "f_statistic": 142.7,  "f_pvalue": 1.2e-08,</a:t>
            </a:r>
            <a:br/>
            <a:r>
              <a:t>  "autocorrelation_lag1": 0.12,</a:t>
            </a:r>
            <a:br/>
            <a:r>
              <a:t>  "qa_qc": {</a:t>
            </a:r>
            <a:br/>
            <a:r>
              <a:t>    "model_pass": true,</a:t>
            </a:r>
            <a:br/>
            <a:r>
              <a:t>    "model_level": { "r2": {"pass": true}, ... },</a:t>
            </a:r>
            <a:br/>
            <a:r>
              <a:t>    "coefficient_level": { "const": {...}, "temp": {...} }</a:t>
            </a:r>
            <a:br/>
            <a:r>
              <a:t>  },</a:t>
            </a:r>
            <a:br/>
            <a:r>
              <a:t>  "residual_analysis": {</a:t>
            </a:r>
            <a:br/>
            <a:r>
              <a:t>    "normality_shapiro": {"p_value": 0.74},</a:t>
            </a:r>
            <a:br/>
            <a:r>
              <a:t>    "n_outliers": 0</a:t>
            </a:r>
            <a:br/>
            <a:r>
              <a:t>  },</a:t>
            </a:r>
            <a:br/>
            <a:r>
              <a:t>  "post_period": {</a:t>
            </a:r>
            <a:br/>
            <a:r>
              <a:t>    "estimated_savings": 124403,</a:t>
            </a:r>
            <a:br/>
            <a:r>
              <a:t>    "uncertainty": {"fsu": 0.281, "fsu_pass": true}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Core model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15+ QA/QC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Residual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Post-period savings &amp; FSU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1DD"/>
                </a:solidFill>
                <a:latin typeface="Calibri"/>
              </a:defRPr>
            </a:pPr>
            <a:r>
              <a:t>API &amp; Integration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45720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1DD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1DD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1DD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1DD"/>
                </a:solidFill>
                <a:latin typeface="Consolas"/>
              </a:defRPr>
            </a:pPr>
            <a:r>
              <a:t>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DA9"/>
                </a:solidFill>
                <a:latin typeface="Calibri"/>
              </a:defRPr>
            </a:pPr>
            <a:r>
              <a:t>Service 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1DD"/>
                </a:solidFill>
                <a:latin typeface="Consolas"/>
              </a:defRPr>
            </a:pPr>
            <a:r>
              <a:t>/chat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DA9"/>
                </a:solidFill>
                <a:latin typeface="Calibri"/>
              </a:defRPr>
            </a:pPr>
            <a:r>
              <a:t>Route to agents via Orchestrator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00400"/>
            <a:ext cx="5486400" cy="3200400"/>
          </a:xfrm>
          <a:prstGeom prst="roundRect">
            <a:avLst/>
          </a:prstGeom>
          <a:solidFill>
            <a:srgbClr val="0F1923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POST /chat — Example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1DD"/>
                </a:solidFill>
                <a:latin typeface="Consolas"/>
              </a:defRPr>
            </a:pPr>
            <a:r>
              <a:t>{</a:t>
            </a:r>
            <a:br/>
            <a:r>
              <a:t>  "message": "Run regression",</a:t>
            </a:r>
            <a:br/>
            <a:r>
              <a:t>  "context": {</a:t>
            </a:r>
            <a:br/>
            <a:r>
              <a:t>    "dependent_var": "energy",</a:t>
            </a:r>
            <a:br/>
            <a:r>
              <a:t>    "predictors": ["temp","hours"],</a:t>
            </a:r>
            <a:br/>
            <a:r>
              <a:t>    "baseline_data": [{...}, ...]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Integration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49039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</a:pPr>
            <a:r>
              <a:t>Streamlit UI (ui/app.py)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</a:pPr>
            <a:r>
              <a:t>Swagger at /docs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</a:pPr>
            <a:r>
              <a:t>Any REST client / SDK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</a:pPr>
            <a:r>
              <a:t>CI/CD pipeline hooks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</a:pPr>
            <a:r>
              <a:t>LLM orchestration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0E1DD"/>
                </a:solidFill>
                <a:latin typeface="Calibri"/>
              </a:defRPr>
            </a:pPr>
            <a:r>
              <a:t>Roadmap &amp;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371600"/>
            <a:ext cx="3291840" cy="41148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OLS baseline regression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15+ QA/QC checks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FSU calculation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Streamlit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3429000"/>
            <a:ext cx="457201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371600"/>
            <a:ext cx="3291840" cy="41148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Change-point models (3P/4P/5P)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Multi-fuel support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Interval data (hourly)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Enhanced visualizations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3429000"/>
            <a:ext cx="457200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371600"/>
            <a:ext cx="3291840" cy="41148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76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LLM-powered orchestration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Auto-report generation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Portfolio-level analytics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</a:pPr>
            <a:r>
              <a:t>ITC/ITV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github.com/sgfernandes/AIM-V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1005</Words>
  <Application>Microsoft Macintosh PowerPoint</Application>
  <PresentationFormat>Widescreen</PresentationFormat>
  <Paragraphs>160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btuser</cp:lastModifiedBy>
  <cp:revision>2</cp:revision>
  <dcterms:created xsi:type="dcterms:W3CDTF">2013-01-27T09:14:16Z</dcterms:created>
  <dcterms:modified xsi:type="dcterms:W3CDTF">2026-03-18T23:26:19Z</dcterms:modified>
  <cp:category/>
</cp:coreProperties>
</file>